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b29d7fff-cb6c-e0d7-6049-81e5040b27b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演習1 うるう年" id="{23cdec97-2bc0-afda-5263-40b775feabe5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演習2 成績判定" id="{4d197dc4-f047-5aa0-3366-e719be4b06ea}">
          <p14:sldIdLst>
            <p14:sldId id="274"/>
            <p14:sldId id="275"/>
            <p14:sldId id="276"/>
            <p14:sldId id="277"/>
          </p14:sldIdLst>
        </p14:section>
        <p14:section name="まとめ" id="{00c7514c-b73f-cd31-133c-0c7f9c85fedf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【開始 0:00】あいさつ。今日は「テスト駆動開発（TDD）」を2限で体験する。
・難しい理論はやらない。手を動かして「テストを先に書くと、安心してコードを書ける」感覚を持ち帰ってもらうのが目的。
・前提：if文、%（余り）、return を習っていること。不安な人がいれば1限の演習で一緒に進めるので大丈夫と伝える。
・Red/Green/Refactor の3色はこの後ずっと出てくるので、色だけ覚えておいてと一言。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【0:01】ゴールは3つ。
①は1限の演習1（うるう年）、②は1限の最後の「壊してみる」デモ、③は2限の演習2（成績判定）で達成する、と対応づけて話す。
・「全部できなくてもOK。①だけでも体験できれば今日は成功」と言ってハードルを下げる。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【0:03】受講者に問いかける。「プログラムを直したら、前は動いていた所が動かなくなった経験ある？」と挙手させる。
・これまでの演習では、実行して画面を見て「目で」確認していたはず。それを毎回全部やるのは大変。
・右側：確認作業そのものをプログラムにしてしまえば、ボタン1つで何十回でも確認できる。これが「テストコード」。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【0:05】図を左から説明。
・テストコードは「本物のコード」を呼び出して、返ってきた結果が「期待した答え」と同じかを比べるだけのプログラム。
・同じなら緑、違えば赤。たったこれだけ。
・例：「2024を渡したら true が返るはず」→ 本物が true を返せば緑。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【0:07】今日いちばん大事なスライド。
・Red：まだ通らないテストを1つ書く。実行して「赤」になることを必ず確認する（赤を確認しないと、テストが正しく動いているか分からない）。
・Green：テストが通る「最小限」のコードを書く。きれいさは後回しでいい。
・Refactor：緑のまま、コードを読みやすく整える。テストがあるから安心して整理できる。
・この3つを小さく何回も回す。1回の大きなジャンプではなく、小さな階段を上るイメージ。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【0:09】たとえ話：「ゴールの旗を先に立ててから走る」。
・先にテスト＝「何ができたら完成か」を決めること。ゴールが決まっていれば、そこまでの最短距離を走ればいい。
・後からテストを書くと、すでにあるコードに合わせたテストになりがちで、間違いを見逃しやすい。
・初心者にとっての一番のメリットは「次に何をすればいいか」がいつも1つに決まること、と強調する。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【0:11】実際のテストコードを1行ずつ読む。
・@Test：「これはテストですよ」という目印。これが付いたメソッドをJUnitが自動で実行してくれる。
・メソッド名は日本語でOK。何を確かめるテストかを書いておくと、赤になったときに一目で分かる。
・assertTrue(〇〇)：「〇〇は true になるはず」。assertFalse は false になるはず。
・assertEquals(期待値, 実際の値)：「同じになるはず」。演習2で使う。順番（期待値が先）に注意。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【0:13】IntelliJ IDEA のテスト結果ウィンドウの見方。
・緑のチェック＝成功、赤（または黄色の×）＝失敗。
・失敗したときに出る「expected: &lt;true&gt; but was: &lt;false&gt;」は「trueのはずが、falseだった」と読む。英語が苦手でもこの2単語だけ覚えればOK。
・このあと全員が最初に見るのは「赤」。赤は失敗ではなく「次にやることが分かった合図」と前向きに伝える。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【0:15】受講者用リポジトリ（00_tdd_java-student）のURLを板書 or チャットで配布。
・IntelliJ IDEA のようこそ画面なら「VCS から取得」。プロジェクトを開いている場合は「ファイル」→「新規」→「バージョン管理からのプロジェクト」。
・「プロジェクトを信頼しますか？」→「プロジェクトを信頼」。
・右下に進捗バーが出ている間は待つ（Mavenが JUnit をダウンロードしている）。ここで止まる人が多い。
・JDKが無いと言われたら、エディタ上部の黄色い帯から JDK をダウンロード（シナリオのトラブルシューティング参照）。
・メニュー名はバージョンで少し違うことがある。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【0:19】LeapYearTest.java を開いて、クラス名の左の緑の▶ →「実行」。
・全員「赤」になったか確認。赤にならない人＝読み込みが終わっていない可能性。
・ここで「赤になった！」を全員で喜ぶ。TDDの最初の一歩＝Red が完了。
・まだ赤の理由：LeapYear.java はわざと false を返すだけになっている（開いて見せる）。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【0:22】ルールを3つ確認。いきなり全部作らず、1つずつテスト→実装していくと予告する。
・2024（4で割れる）○、2023（割れない）×、1900（100で割れる）×、2000（400で割れる）○。
・% は「割り算の余り」。year % 4 == 0 は「4で割った余りが0＝4で割り切れる」。ここが分からない人が多いので、10 % 3 = 1 などで確認。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【0:24】講師がプロジェクタで実演 → 受講者も同じように。
・LeapYear.java の return false; を return true; に変えて実行 → 緑。
・「え、それでいいの？」という反応を待つ。→ 今のテストは2024年しか見ていないので、これで合格。
・ポイント：テストに求められていない処理は書かない。足りない所は、次のテストが教えてくれる。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【0:28】受講者に2023年のテストを書いてもらう（ハンドアウト 演習1-②）。assertFalse を使うのがポイント。
・実行 → 2023年のテストだけ赤、2024年は緑のまま。赤の行を指さして確認させる。
・Green のコードは、受講者に「4で割り切れるときに true にするには？」と考えさせてから見せる。1〜2分待つ。
・2件とも緑になったら次へ。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【0:33】1900年は4で割り切れるので、今のコードだと true が返って赤になる。
・Green：if文を1つ足す。受講者に書かせる（ハンドアウトのヒント：100で割り切れたら false）。
・実行して3件すべて緑になることを確認。「前に作った所が壊れていないことも同時に確認できた」と強調。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【0:37】2000年は100で割り切れるので、今のコードでは false → 赤。
・Green：400で割り切れたら true の if を「100の判定より前」に入れる。
・わざと後ろに入れてしまった人がいたら、赤のままになるのでチャンス。「テストが順番の間違いを教えてくれた」と全体に共有する。
・4件すべて緑になったら、うるう年判定は完成。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【0:40】Refactor（リファクタリング）＝動きを変えずにコードを整理すること。
・if が3つ並んだコードを1行の式にまとめる。&amp;&amp;（かつ）、||（または）、!=（等しくない）を使う。
・初心者には難しければ「こういう書き方もある」と見せるだけでOK。if 3つのままでも正解。
・大事なのは、書き換えた後にテストを実行して緑のままなら「動きは変わっていない」と自信を持てること。
・テストが無いと、整理するのが怖くて手を出せない。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【0:43】講師が実演（受講者はまねしても見るだけでもOK）。
・① || year % 400 == 0 を消して実行 → 2000年のテストが赤。「壊したらすぐ教えてくれる」。元に戻して緑を確認。
・② 400 を 40 に書き間違えて実行 → なんと緑のまま！ 受講者に「なぜ？」と問いかける。
  答え：今のテスト（2024/2023/1900/2000）では、40でも400でも結果が同じになるから。
  例えば1800年なら 40で割り切れてしまうので true（本当は false）になるが、そのテストが無い。
・結論：テストは「書いたケース」しか守れない。だから「どの値をテストするか」がとても大事 → 2限の演習2につながる。
・最後に必ず元に戻して4件緑を確認させる。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【0:47】1限の振り返り。3点だけ。
・休憩の前に、全員の LeapYearTest が4件緑になっているか確認（なっていない人は休憩中にサポート、または teacher/solved/refactor を参照）。
・2限は「どの値をテストするか」を自分で考える演習、と予告して休憩へ。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【2限 0:00】仕様を確認。GradeJudge.judge(点数) が成績の文字（"A"など）を返すメソッドを作る。
・今度は、テストも自分で考えて書く。見本は「95点はA」の1つだけ。
・範囲外（マイナスや101以上）のエラーはチャレンジ課題。時間が余った人向け。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【2限 0:03】1限の「400→40で緑のまま」を思い出させる。テストする値の選び方が大事。
・95点、85点…のような真ん中の値だけだと、&gt;= と &gt; を間違えても気づけない。
・間違いが起きやすいのは「区切りの境目」。89と90、79と80…のように境目の両側をテストする。これを「境界値テスト」と呼ぶ。
・0点と100点（いちばん端）も忘れずに。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【2限 0:05〜0:35】個人ワーク（隣と相談OK）。30分。
・まずハンドアウトのワークシートに、テストする点数と期待する成績を書き出す（5分）。
・その後、1つテストを追加→実行（赤）→ GradeJudge を書きかえる（緑）をくり返す。
・まとめてテストを10個書いてから実装しないように注意。1つずつ！
・机間巡視：真ん中の値しかテストしていない人には「境目は？」と声かけ。
・早く終わった人：チャレンジ（assertThrows）。ハンドアウトとテストファイルのコメントにひな形あり。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【2限 0:35】答え合わせ。数人に「どの点数をテストしたか」を発表してもらう。
・クイズ：&gt;= 90 を &gt; 90 と書き間違えたら？ → 90点のテストがあれば赤になる。95点だけでは緑のまま。
・自分のテストで実際に書き換えて確かめさせる（30秒）。赤になった人は「境目をテストできていた」証拠。
・解答例は answer/README.md の表（境界値11ケース＋範囲外2ケース）。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【2限 0:42】3分で個人記入 → 2〜3人に発表してもらう。
・正解はない。「テストを先に書くのは面倒だった」という感想も大歓迎、と伝える。
・面倒だと感じた人には「大きなプログラムになるほど、確認の手間が爆発的に増える。そこで効いてくる」と補足。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【2限 0:46】まとめ。
・TDDは「テストを先に書く → 通す → 整える」を小さくくり返す開発の進め方。
・テストは書いたケースしか守れないので、境目をねらって値を選ぶ。
・実際の開発現場では、テストは自動化されて push のたびに実行されることも多い（CI）。
  他の体験シリーズ（障害対応・ログ調査体験、要件・仕様変更体験）とつながる話なので、受講済みなら一言触れる。
・お疲れさまでした。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3294B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pic>
        <p:nvPicPr>
          <p:cNvPr id="3" name="Image 0" descr="クラス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6309360"/>
            <a:ext cx="612364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13294B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pic>
        <p:nvPicPr>
          <p:cNvPr id="3" name="Image 0" descr="クラス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6309360"/>
            <a:ext cx="612364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クラス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731520"/>
            <a:ext cx="2143273" cy="1600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33F4D"/>
                </a:solidFill>
              </a:rPr>
              <a:t>TDD体験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3294B"/>
                </a:solidFill>
              </a:rPr>
              <a:t>テストを先に書いてみよう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333F4D"/>
                </a:solidFill>
              </a:rPr>
              <a:t>Java × JUnit 5 ／ 2限（50分×2）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4206240"/>
            <a:ext cx="2011680" cy="109728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206240"/>
            <a:ext cx="20116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Red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971800" y="4526280"/>
            <a:ext cx="73152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0" y="4206240"/>
            <a:ext cx="2194560" cy="10972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40480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Green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172200" y="4526280"/>
            <a:ext cx="73152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0880" y="4206240"/>
            <a:ext cx="2651760" cy="10972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0" y="4206240"/>
            <a:ext cx="2651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Refactor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9921240" y="4206240"/>
            <a:ext cx="23774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この3つを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くり返す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今日のゴール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1508760"/>
            <a:ext cx="1005840" cy="10058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1417320"/>
            <a:ext cx="9418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TDDの3ステップを体験する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103120"/>
            <a:ext cx="94183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333F4D"/>
                </a:solidFill>
              </a:rPr>
              <a:t>Red → Green → Refactor を自分の手で回す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31520" y="3108960"/>
            <a:ext cx="1005840" cy="10058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108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3017520"/>
            <a:ext cx="9418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テストがくれる「安心」を感じる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3703320"/>
            <a:ext cx="94183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333F4D"/>
                </a:solidFill>
              </a:rPr>
              <a:t>わざと壊すと、テストがすぐ教えてくれる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731520" y="4709160"/>
            <a:ext cx="1005840" cy="10058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709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4617720"/>
            <a:ext cx="9418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どの値をテストするか考える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5303520"/>
            <a:ext cx="94183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333F4D"/>
                </a:solidFill>
              </a:rPr>
              <a:t>「境目」をねらってテストを選ぶ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こんなこと、ありませんか？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669280" cy="3291840"/>
          </a:xfrm>
          <a:prstGeom prst="roundRect">
            <a:avLst>
              <a:gd name="adj" fmla="val 333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4754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</a:rPr>
              <a:t>困ること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5303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1か所直したら、別の所が壊れた</a:t>
            </a:r>
            <a:endParaRPr lang="en-US" sz="24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動くか毎回、手で入力して確認</a:t>
            </a:r>
            <a:endParaRPr lang="en-US" sz="24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こわくてコードを整理できない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355080" y="2788920"/>
            <a:ext cx="54864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0" y="1371600"/>
            <a:ext cx="4617720" cy="329184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</a:rPr>
              <a:t>テストコードがあると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286000"/>
            <a:ext cx="4251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確認を自動でやってくれる</a:t>
            </a:r>
            <a:endParaRPr lang="en-US" sz="24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ボタン1つで何回でもOK</a:t>
            </a:r>
            <a:endParaRPr lang="en-US" sz="24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</a:rPr>
              <a:t>壊したらすぐ気づける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029200"/>
            <a:ext cx="11109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確認作業そのものを、プログラムにしてしまう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テストコード ＝ 確かめるプログラム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3F0FB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</a:rPr>
              <a:t>テストコード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「答えは○○のはず」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023360" y="2148840"/>
            <a:ext cx="118872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4048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F4D"/>
                </a:solidFill>
              </a:rPr>
              <a:t>呼び出す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394960" y="164592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F2F4F7"/>
          </a:solidFill>
          <a:ln w="25400">
            <a:solidFill>
              <a:srgbClr val="5B677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9496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</a:rPr>
              <a:t>本物のコード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結果を返す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869680" y="2148840"/>
            <a:ext cx="91440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96696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</a:rPr>
              <a:t>比べる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463040" y="3931920"/>
            <a:ext cx="4389120" cy="164592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63040" y="4069080"/>
            <a:ext cx="4389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</a:rPr>
              <a:t>同じ → 緑（成功）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754880"/>
            <a:ext cx="4389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予定どおり動いた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400800" y="3931920"/>
            <a:ext cx="4389120" cy="1645920"/>
          </a:xfrm>
          <a:prstGeom prst="roundRect">
            <a:avLst>
              <a:gd name="adj" fmla="val 6667"/>
            </a:avLst>
          </a:prstGeom>
          <a:solidFill>
            <a:srgbClr val="FDECE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4069080"/>
            <a:ext cx="4389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</a:rPr>
              <a:t>違う → 赤（失敗）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4754880"/>
            <a:ext cx="4389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どこかがおかしい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TDD（テスト駆動開発）の3ステップ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DECE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645920"/>
            <a:ext cx="2743200" cy="777240"/>
          </a:xfrm>
          <a:prstGeom prst="roundRect">
            <a:avLst>
              <a:gd name="adj" fmla="val 47059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Red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テストを1つ書く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実行して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失敗を確認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977640" y="3154680"/>
            <a:ext cx="36576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41732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645920"/>
            <a:ext cx="2743200" cy="777240"/>
          </a:xfrm>
          <a:prstGeom prst="roundRect">
            <a:avLst>
              <a:gd name="adj" fmla="val 4705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9160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Green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最小限のコード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とにかく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テストを通す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7818120" y="3154680"/>
            <a:ext cx="36576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141732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E3F0FB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49640" y="1645920"/>
            <a:ext cx="2743200" cy="777240"/>
          </a:xfrm>
          <a:prstGeom prst="roundRect">
            <a:avLst>
              <a:gd name="adj" fmla="val 4705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49640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Refactor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コードを整える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緑のまま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読みやすく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小さく、何回もくり返す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なぜテストを「先に」書くの？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822960" y="1554480"/>
            <a:ext cx="1463040" cy="14630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旗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600200"/>
            <a:ext cx="9052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ゴール（完成の条件）を先に決める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2331720"/>
            <a:ext cx="9052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333F4D"/>
                </a:solidFill>
              </a:rPr>
              <a:t>テスト ＝「これができたら完成」という約束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097280" y="3566160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0" y="3429000"/>
            <a:ext cx="9601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次にやることが、いつも1つに決まる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097280" y="44348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0" y="4297680"/>
            <a:ext cx="9601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作りすぎない（必要な分だけ書く）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097280" y="530352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28800" y="5166360"/>
            <a:ext cx="9601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あとで直しても、すぐ確認できる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テストコードの読み方（JUnit 5）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6766560" cy="2286000"/>
          </a:xfrm>
          <a:prstGeom prst="roundRect">
            <a:avLst>
              <a:gd name="adj" fmla="val 4800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0876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@Test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void 西暦2024年はうるう年() {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assertTrue(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LeapYear.isLeapYear(2024));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@Test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3931920"/>
            <a:ext cx="6583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「これはテスト」の目印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535424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assertTrue(…)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4535424"/>
            <a:ext cx="6583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… は true のはず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138928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assertFalse(…)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5138928"/>
            <a:ext cx="6583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… は false のはず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742432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assertEquals(A, B)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5742432"/>
            <a:ext cx="6583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B は A と同じはず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589520" y="137160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FFF4E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1481328"/>
            <a:ext cx="3657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メソッド名は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日本語でOK！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何を確かめるか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を書く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テスト結果の見方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937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</a:rPr>
              <a:t>✔ 緑 ＝ 成功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期待どおりの結果だった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DECE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600200"/>
            <a:ext cx="4937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62828"/>
                </a:solidFill>
              </a:rPr>
              <a:t>✘ 赤 ＝ 失敗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期待と違う結果だった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失敗したときのメッセージ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526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expected: &lt;true&gt; but was: &lt;false&gt;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「</a:t>
            </a:r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</a:rPr>
              <a:t>true</a:t>
            </a:r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 のはずが、</a:t>
            </a:r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</a:rPr>
              <a:t>false</a:t>
            </a:r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 だった」と読む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準備：プロジェクトをクローンして開く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46304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IntelliJ IDEA で「VCS から取得」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2514600"/>
            <a:ext cx="822960" cy="82296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56032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配布された URL を貼り付けて「クローン」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31520" y="3611880"/>
            <a:ext cx="822960" cy="82296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365760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「プロジェクトを信頼」を選ぶ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31520" y="4709160"/>
            <a:ext cx="822960" cy="82296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4754880"/>
            <a:ext cx="9692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右下の読み込みが終わるまで待つ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852160"/>
            <a:ext cx="10058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33F4D"/>
                </a:solidFill>
              </a:rPr>
              <a:t>※ メニュー名はバージョンによって少し違うことがあります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テストを実行してみよう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</a:rPr>
              <a:t>LeapYearTest.java を開いて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</a:rPr>
              <a:t>クラス名の左の ▶ →「実行」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371600" y="3017520"/>
            <a:ext cx="9418320" cy="2011680"/>
          </a:xfrm>
          <a:prstGeom prst="roundRect">
            <a:avLst>
              <a:gd name="adj" fmla="val 5455"/>
            </a:avLst>
          </a:prstGeom>
          <a:solidFill>
            <a:srgbClr val="FDECEA"/>
          </a:solidFill>
          <a:ln w="381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3200400"/>
            <a:ext cx="9418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</a:rPr>
              <a:t>赤（失敗）になったら準備OK！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069080"/>
            <a:ext cx="9418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最初は赤になるのが正解です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394960"/>
            <a:ext cx="10972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33F4D"/>
                </a:solidFill>
              </a:rPr>
              <a:t>まだ何も作っていないので、失敗して当然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演習1：うるう年のルール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114800"/>
                <a:gridCol w="274320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条件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結果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例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 で割り切れる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うるう年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2024 年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 で割り切れない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うるう年ではない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2023 年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100 で割り切れる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うるう年ではない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1900 年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400 で割り切れる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うるう年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2000 年</a:t>
                      </a:r>
                      <a:endParaRPr lang="en-US" sz="28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year % 4 == 0</a:t>
            </a:r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  →「4で割った余りが0」＝ 4で割り切れる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サイクル1：まずは通す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49808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Red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77824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2E7D32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Green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0" y="384048"/>
            <a:ext cx="16002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0" y="384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Refactor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325880"/>
            <a:ext cx="6035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</a:rPr>
              <a:t>Red：テスト（最初からある）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6035040" cy="283464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0312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@Test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void 西暦2024年はうるう年() {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assertTrue(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LeapYear.isLeapYear(2024));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675120" y="3154680"/>
            <a:ext cx="41148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1325880"/>
            <a:ext cx="4480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Green：LeapYear.java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7178040" y="196596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21031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// とにかく通す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return true;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010912"/>
            <a:ext cx="10698480" cy="1042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これでOK！ テストが1つなら、これが「最小限」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＝ 仮実装（ズルではありません）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サイクル1：テストを追加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49808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C6282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77824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Green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0" y="384048"/>
            <a:ext cx="16002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0" y="384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Refactor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325880"/>
            <a:ext cx="6035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</a:rPr>
              <a:t>Red：2023年のテストを追加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6035040" cy="283464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0312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@Test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void 西暦2023年はうるう年ではない() {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assertFalse(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LeapYear.isLeapYear(2023));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675120" y="3154680"/>
            <a:ext cx="41148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1325880"/>
            <a:ext cx="4480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Green：本当の条件を書く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7178040" y="196596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21031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return year % 4 == 0;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010912"/>
            <a:ext cx="10698480" cy="1042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return true; のままだと 2023年が赤になる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→ テストが「ちゃんと書いて」と教えてくれた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サイクル2：100で割れる年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49808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C6282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77824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Green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0" y="384048"/>
            <a:ext cx="16002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0" y="384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Refactor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325880"/>
            <a:ext cx="6035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</a:rPr>
              <a:t>Red：1900年のテストを追加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6035040" cy="283464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0312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@Test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void 西暦1900年はうるう年ではない() {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assertFalse(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LeapYear.isLeapYear(1900));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675120" y="3154680"/>
            <a:ext cx="41148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1325880"/>
            <a:ext cx="4480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Green：先頭に if を追加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7178040" y="196596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21031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(year % 100 == 0) {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false;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return year % 4 == 0;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010912"/>
            <a:ext cx="10698480" cy="1042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前のテスト（2024・2023）も緑のまま？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→ 全部まとめて確認できるのがテストの強み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サイクル3：400で割れる年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49808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C62828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77824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Green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0" y="384048"/>
            <a:ext cx="16002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0" y="384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Refactor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325880"/>
            <a:ext cx="60350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</a:rPr>
              <a:t>Red：2000年のテストを追加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6035040" cy="283464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0312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@Test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void 西暦2000年はうるう年() {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assertTrue(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LeapYear.isLeapYear(2000));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675120" y="3154680"/>
            <a:ext cx="411480" cy="457200"/>
          </a:xfrm>
          <a:prstGeom prst="rightArrow">
            <a:avLst/>
          </a:prstGeom>
          <a:solidFill>
            <a:srgbClr val="5B6775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1325880"/>
            <a:ext cx="4480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Green：さらに先頭に if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7178040" y="196596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21031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(year % 400 == 0) {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true;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(year % 100 == 0) {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false;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return year % 4 == 0;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109960" cy="109728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010912"/>
            <a:ext cx="10698480" cy="1042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if の順番に注意！ 400 の判定を 100 より先に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（逆だと 2000年が赤のまま → テストが教えてくれる）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Refactor：整理する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49808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Red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778240" y="384048"/>
            <a:ext cx="11430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3840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Green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0" y="384048"/>
            <a:ext cx="1600200" cy="566928"/>
          </a:xfrm>
          <a:prstGeom prst="roundRect">
            <a:avLst>
              <a:gd name="adj" fmla="val 48387"/>
            </a:avLst>
          </a:prstGeom>
          <a:solidFill>
            <a:srgbClr val="1565C0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0" y="384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Refactor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325880"/>
            <a:ext cx="5486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33F4D"/>
                </a:solidFill>
              </a:rPr>
              <a:t>Before（if が3つ）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031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(year % 400 == 0) {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true;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(year % 100 == 0) {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false;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return year % 4 == 0;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852160" y="3383280"/>
            <a:ext cx="548640" cy="457200"/>
          </a:xfrm>
          <a:prstGeom prst="rightArrow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1325880"/>
            <a:ext cx="50292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</a:rPr>
              <a:t>After（1つの式に）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6583680" y="1965960"/>
            <a:ext cx="5074920" cy="173736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12280" y="210312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return (year % 4 == 0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    &amp;&amp; year % 100 != 0)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|| year % 400 == 0;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583680" y="393192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3977640"/>
            <a:ext cx="4892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実行して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4件とも緑ならOK！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3212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333F4D"/>
                </a:solidFill>
              </a:rPr>
              <a:t>&amp;&amp; ＝ かつ　　|| ＝ または　　!= ＝ 等しくない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わざと壊してみよう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FDECE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0876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① 一部を消す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|| year % 400 == 0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 を削除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71800"/>
            <a:ext cx="5029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</a:rPr>
              <a:t>→ 赤！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すぐに気づける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FFF4E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50876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② 書き間違える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400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 を </a:t>
            </a:r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40</a:t>
            </a:r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 にする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971800"/>
            <a:ext cx="5029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→ 緑のまま…？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なぜでしょう？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074920"/>
            <a:ext cx="11109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94B"/>
                </a:solidFill>
              </a:rPr>
              <a:t>テストは「書いたケース」しか守れない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1限のまとめ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1828800" cy="777240"/>
          </a:xfrm>
          <a:prstGeom prst="roundRect">
            <a:avLst>
              <a:gd name="adj" fmla="val 47059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Red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463040"/>
            <a:ext cx="8778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先にテストを書いて、赤を確認した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2606040"/>
            <a:ext cx="1828800" cy="777240"/>
          </a:xfrm>
          <a:prstGeom prst="roundRect">
            <a:avLst>
              <a:gd name="adj" fmla="val 4705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060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Green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2606040"/>
            <a:ext cx="8778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最小限のコードで、緑にした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31520" y="3749040"/>
            <a:ext cx="1828800" cy="777240"/>
          </a:xfrm>
          <a:prstGeom prst="roundRect">
            <a:avLst>
              <a:gd name="adj" fmla="val 4705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Refac.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3749040"/>
            <a:ext cx="8778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緑のまま、安心して整理できた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31520" y="502920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F2F4F7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2限：どの値をテストすればいい？ を自分で考えます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演習2：点数から成績を判定する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点数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成績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90 〜 100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565C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80 〜 89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565C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B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70 〜 79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565C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60 〜 69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565C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D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A1A1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 〜 59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565C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F</a:t>
                      </a:r>
                      <a:endParaRPr lang="en-US" sz="3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5B67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00800" y="13716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629400" y="1508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GradeJudge.judge(95)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→ "A" を返す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6400800" y="3017520"/>
            <a:ext cx="5257800" cy="2468880"/>
          </a:xfrm>
          <a:prstGeom prst="roundRect">
            <a:avLst>
              <a:gd name="adj" fmla="val 4444"/>
            </a:avLst>
          </a:prstGeom>
          <a:solidFill>
            <a:srgbClr val="FFF4E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629400" y="3154680"/>
            <a:ext cx="4846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</a:rPr>
              <a:t>チャレンジ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6629400" y="3840480"/>
            <a:ext cx="48463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範囲外（-1 や 101）は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エラーにする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どの点数をテストする？ →「境目」をねらう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822960" y="2926080"/>
            <a:ext cx="105156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874520"/>
            <a:ext cx="320040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3200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F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023360" y="1874520"/>
            <a:ext cx="1828800" cy="914400"/>
          </a:xfrm>
          <a:prstGeom prst="rect">
            <a:avLst/>
          </a:prstGeom>
          <a:solidFill>
            <a:srgbClr val="E3F0FB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02336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D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1828800" cy="914400"/>
          </a:xfrm>
          <a:prstGeom prst="rect">
            <a:avLst/>
          </a:prstGeom>
          <a:solidFill>
            <a:srgbClr val="E3F0FB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C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680960" y="1874520"/>
            <a:ext cx="1828800" cy="914400"/>
          </a:xfrm>
          <a:prstGeom prst="rect">
            <a:avLst/>
          </a:prstGeom>
          <a:solidFill>
            <a:srgbClr val="E3F0FB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B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9509760" y="1874520"/>
            <a:ext cx="1828800" cy="914400"/>
          </a:xfrm>
          <a:prstGeom prst="rect">
            <a:avLst/>
          </a:prstGeom>
          <a:solidFill>
            <a:srgbClr val="E3F0FB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294B"/>
                </a:solidFill>
              </a:rPr>
              <a:t>A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22960" y="2834640"/>
            <a:ext cx="0" cy="27432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23360" y="2834640"/>
            <a:ext cx="0" cy="27432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2834640"/>
            <a:ext cx="0" cy="27432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0" y="2834640"/>
            <a:ext cx="0" cy="27432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509760" y="2834640"/>
            <a:ext cx="0" cy="27432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338560" y="2834640"/>
            <a:ext cx="0" cy="27432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" y="3200400"/>
            <a:ext cx="1143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3451860" y="3200400"/>
            <a:ext cx="1143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59|60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5280660" y="3200400"/>
            <a:ext cx="1143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69|70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7109460" y="3200400"/>
            <a:ext cx="1143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79|80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938260" y="3200400"/>
            <a:ext cx="1143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89|90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10744200" y="3200400"/>
            <a:ext cx="11430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100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48640" y="42062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DECE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4297680"/>
            <a:ext cx="4937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</a:rPr>
              <a:t>✘ 真ん中だけ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892040"/>
            <a:ext cx="4937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95・85・75…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間違いを見逃しやすい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6263640" y="42062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92240" y="4297680"/>
            <a:ext cx="4937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✔ 境目の両側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492240" y="4892040"/>
            <a:ext cx="49377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89 と 90、79 と 80 …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</a:rPr>
              <a:t>＋ 端の 0 と 100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演習2の進め方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1371600"/>
            <a:ext cx="777240" cy="77724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399032"/>
            <a:ext cx="9875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ワークシートに、試す点数と答えを書く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731520" y="2359152"/>
            <a:ext cx="777240" cy="7772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3591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386584"/>
            <a:ext cx="9875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テストを1つ追加して実行 → 赤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31520" y="3346704"/>
            <a:ext cx="777240" cy="7772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3467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3374136"/>
            <a:ext cx="9875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GradeJudge を書きかえて実行 → 緑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731520" y="4334256"/>
            <a:ext cx="777240" cy="7772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3342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1783080" y="4361688"/>
            <a:ext cx="9875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2 に戻る（必要なら整理）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731520" y="5440680"/>
            <a:ext cx="10927080" cy="822960"/>
          </a:xfrm>
          <a:prstGeom prst="roundRect">
            <a:avLst>
              <a:gd name="adj" fmla="val 13333"/>
            </a:avLst>
          </a:prstGeom>
          <a:solidFill>
            <a:srgbClr val="FFF4E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</a:rPr>
              <a:t>テストは まとめて書かずに「1つずつ」！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答え合わせ：このミス、見つけられる？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08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(score &gt;= 90) {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"A";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760720" y="1965960"/>
            <a:ext cx="640080" cy="457200"/>
          </a:xfrm>
          <a:prstGeom prst="rightArrow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1371600"/>
            <a:ext cx="5074920" cy="164592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AEB6C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5087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C6282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if (score &gt; 90) {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   return "A";</a:t>
            </a:r>
            <a:endParaRPr lang="en-US" sz="2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10972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</a:rPr>
              <a:t>うっかり = を消してしまったら…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DECE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11480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</a:rPr>
              <a:t>95点のテストだけ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→ 緑のまま（気づけない）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263640" y="40233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411480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90点のテストがある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</a:rPr>
              <a:t>→ 赤！（すぐ気づける）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ふり返り（ハンドアウトに書こう）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E3F0FB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664208"/>
            <a:ext cx="777240" cy="77724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642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600200"/>
            <a:ext cx="9601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テストを先に書いて、どう感じた？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F2F4F7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127248"/>
            <a:ext cx="777240" cy="77724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127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テストがあって安心できた場面は？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48640" y="438912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E3F0FB"/>
          </a:solidFill>
          <a:ln w="12700">
            <a:solidFill>
              <a:srgbClr val="5B677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590288"/>
            <a:ext cx="777240" cy="777240"/>
          </a:xfrm>
          <a:prstGeom prst="ellipse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5902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4526280"/>
            <a:ext cx="9601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</a:rPr>
              <a:t>どうやってテストする値を選んだ？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3294B"/>
                </a:solidFill>
              </a:rPr>
              <a:t>今日のまとめ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822960" y="1627632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645920" y="1463040"/>
            <a:ext cx="9966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</a:rPr>
              <a:t>テストを先に書く ＝ ゴールを先に決める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2679192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45920" y="2514600"/>
            <a:ext cx="9966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</a:rPr>
              <a:t>赤 → 緑 → 整理 を、小さくくり返す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373075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45920" y="3566160"/>
            <a:ext cx="9966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</a:rPr>
              <a:t>テストは書いたケースしか守れない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822960" y="4782312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45920" y="4617720"/>
            <a:ext cx="9966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</a:rPr>
              <a:t>値は「境目」をねらって選ぶ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F4D"/>
                </a:solidFill>
              </a:rPr>
              <a:t>おつかれさまでした！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rgbClr val="333F4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DD Taiken">
  <a:themeElements>
    <a:clrScheme name="TDD Taiken">
      <a:dk1>
        <a:srgbClr val="1A1A1A"/>
      </a:dk1>
      <a:lt1>
        <a:srgbClr val="FFFFFF"/>
      </a:lt1>
      <a:dk2>
        <a:srgbClr val="13294B"/>
      </a:dk2>
      <a:lt2>
        <a:srgbClr val="F2F4F7"/>
      </a:lt2>
      <a:accent1>
        <a:srgbClr val="C62828"/>
      </a:accent1>
      <a:accent2>
        <a:srgbClr val="2E7D32"/>
      </a:accent2>
      <a:accent3>
        <a:srgbClr val="1565C0"/>
      </a:accent3>
      <a:accent4>
        <a:srgbClr val="B45309"/>
      </a:accent4>
      <a:accent5>
        <a:srgbClr val="4A5563"/>
      </a:accent5>
      <a:accent6>
        <a:srgbClr val="6A1B9A"/>
      </a:accent6>
      <a:hlink>
        <a:srgbClr val="1565C0"/>
      </a:hlink>
      <a:folHlink>
        <a:srgbClr val="6A1B9A"/>
      </a:folHlink>
    </a:clrScheme>
    <a:fontScheme name="TDD Taiken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TDD体験（Java）解説スライド</dc:title>
  <dc:subject>PptxGenJS Presentation</dc:subject>
  <dc:creator>TDD体験</dc:creator>
  <cp:lastModifiedBy>TDD体験</cp:lastModifiedBy>
  <cp:revision>1</cp:revision>
  <dcterms:created xsi:type="dcterms:W3CDTF">2026-10-17T11:11:45Z</dcterms:created>
  <dcterms:modified xsi:type="dcterms:W3CDTF">2026-10-17T11:11:45Z</dcterms:modified>
</cp:coreProperties>
</file>